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70" r:id="rId6"/>
    <p:sldId id="260" r:id="rId7"/>
    <p:sldId id="261" r:id="rId8"/>
    <p:sldId id="262" r:id="rId9"/>
    <p:sldId id="263" r:id="rId10"/>
    <p:sldId id="264" r:id="rId11"/>
    <p:sldId id="265" r:id="rId12"/>
    <p:sldId id="271" r:id="rId13"/>
    <p:sldId id="272" r:id="rId14"/>
    <p:sldId id="266" r:id="rId15"/>
    <p:sldId id="267" r:id="rId16"/>
    <p:sldId id="268" r:id="rId17"/>
    <p:sldId id="269" r:id="rId18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F112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0" d="100"/>
          <a:sy n="130" d="100"/>
        </p:scale>
        <p:origin x="86" y="2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846108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7E88B2-E5A0-C935-00BB-0F2D87DAF2B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6B4812A-43F9-4698-8140-9E44739619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C761505-6FFE-6B68-237D-F1B23433D2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081F506-333B-53EC-EC7C-5F197D355D4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243307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jpe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CF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BANK</a:t>
            </a:r>
            <a:endParaRPr lang="en-US" sz="80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79030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MARKETING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404948" y="2191296"/>
            <a:ext cx="8229600" cy="79030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</a:t>
            </a:r>
            <a:endParaRPr lang="en-US" sz="5500" dirty="0"/>
          </a:p>
        </p:txBody>
      </p:sp>
      <p:sp>
        <p:nvSpPr>
          <p:cNvPr id="5" name="Text 3"/>
          <p:cNvSpPr/>
          <p:nvPr/>
        </p:nvSpPr>
        <p:spPr>
          <a:xfrm>
            <a:off x="457200" y="420624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3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6F0414B-59C5-8341-CE50-16192DF2BB76}"/>
              </a:ext>
            </a:extLst>
          </p:cNvPr>
          <p:cNvSpPr txBox="1"/>
          <p:nvPr/>
        </p:nvSpPr>
        <p:spPr>
          <a:xfrm>
            <a:off x="509452" y="3566568"/>
            <a:ext cx="2403566" cy="13388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90000"/>
              </a:lnSpc>
            </a:pPr>
            <a:r>
              <a:rPr lang="en-US" sz="1800" b="1" dirty="0"/>
              <a:t>Group (9)</a:t>
            </a:r>
            <a:br>
              <a:rPr lang="en-US" sz="1800" dirty="0">
                <a:solidFill>
                  <a:schemeClr val="bg1"/>
                </a:solidFill>
              </a:rPr>
            </a:br>
            <a:r>
              <a:rPr lang="en-US" sz="1800" dirty="0">
                <a:solidFill>
                  <a:schemeClr val="bg1"/>
                </a:solidFill>
              </a:rPr>
              <a:t>Vineet Reddy Saddi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Shiva Kotagiri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Sai Vamsee </a:t>
            </a:r>
          </a:p>
          <a:p>
            <a:pPr>
              <a:lnSpc>
                <a:spcPct val="90000"/>
              </a:lnSpc>
            </a:pPr>
            <a:r>
              <a:rPr lang="en-US" sz="1800" dirty="0">
                <a:solidFill>
                  <a:schemeClr val="bg1"/>
                </a:solidFill>
              </a:rPr>
              <a:t>Prakash Sai Alla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EFA61A-F4AE-22A3-46DB-06E4AB9236AD}"/>
              </a:ext>
            </a:extLst>
          </p:cNvPr>
          <p:cNvSpPr txBox="1"/>
          <p:nvPr/>
        </p:nvSpPr>
        <p:spPr>
          <a:xfrm>
            <a:off x="6459535" y="3541536"/>
            <a:ext cx="2175013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/>
              <a:t>Models Used </a:t>
            </a:r>
            <a:br>
              <a:rPr lang="en-US" dirty="0"/>
            </a:br>
            <a:r>
              <a:rPr lang="en-US" dirty="0">
                <a:solidFill>
                  <a:schemeClr val="bg1"/>
                </a:solidFill>
              </a:rPr>
              <a:t>Logistic Regression </a:t>
            </a:r>
          </a:p>
          <a:p>
            <a:r>
              <a:rPr lang="en-US" dirty="0">
                <a:solidFill>
                  <a:schemeClr val="bg1"/>
                </a:solidFill>
              </a:rPr>
              <a:t>Neural Network </a:t>
            </a:r>
          </a:p>
          <a:p>
            <a:r>
              <a:rPr lang="en-US" dirty="0">
                <a:solidFill>
                  <a:schemeClr val="bg1"/>
                </a:solidFill>
              </a:rPr>
              <a:t>Classification Tree</a:t>
            </a:r>
          </a:p>
          <a:p>
            <a:r>
              <a:rPr lang="en-US" dirty="0">
                <a:solidFill>
                  <a:schemeClr val="bg1"/>
                </a:solidFill>
              </a:rPr>
              <a:t>KNN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TABLE</a:t>
            </a:r>
            <a:r>
              <a:rPr lang="en-US" sz="7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48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OF</a:t>
            </a:r>
            <a:endParaRPr lang="en-US" sz="7000" dirty="0"/>
          </a:p>
        </p:txBody>
      </p:sp>
      <p:sp>
        <p:nvSpPr>
          <p:cNvPr id="3" name="Text 1"/>
          <p:cNvSpPr/>
          <p:nvPr/>
        </p:nvSpPr>
        <p:spPr>
          <a:xfrm>
            <a:off x="27432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CONTENTS</a:t>
            </a:r>
            <a:endParaRPr lang="en-US" sz="7000" dirty="0"/>
          </a:p>
        </p:txBody>
      </p:sp>
      <p:sp>
        <p:nvSpPr>
          <p:cNvPr id="4" name="Shape 2"/>
          <p:cNvSpPr/>
          <p:nvPr/>
        </p:nvSpPr>
        <p:spPr>
          <a:xfrm>
            <a:off x="457200" y="2468880"/>
            <a:ext cx="2697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45720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3337560" y="246888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333756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PREPROCESSING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0" y="246888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21792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3063240"/>
            <a:ext cx="2697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5720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337560" y="3063240"/>
            <a:ext cx="2697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33756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TREE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3934" y="365760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5" name="Text 13"/>
          <p:cNvSpPr/>
          <p:nvPr/>
        </p:nvSpPr>
        <p:spPr>
          <a:xfrm>
            <a:off x="391886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347357" y="365760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3347357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6240780" y="3657600"/>
            <a:ext cx="2697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240780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TASKS</a:t>
            </a:r>
            <a:endParaRPr lang="en-US" sz="1000" dirty="0"/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BF7BBACA-3F48-09DD-551B-C47087D0C495}"/>
              </a:ext>
            </a:extLst>
          </p:cNvPr>
          <p:cNvSpPr/>
          <p:nvPr/>
        </p:nvSpPr>
        <p:spPr>
          <a:xfrm>
            <a:off x="6217920" y="306324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 wrap="square" anchor="ctr"/>
          <a:lstStyle/>
          <a:p>
            <a:pPr algn="ctr"/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 CLASSIFICATION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99" y="132261"/>
            <a:ext cx="708006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199" y="692331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DESCRIPTION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199" y="1082584"/>
            <a:ext cx="4794070" cy="195616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A bank uses phone campaigns to encourage customers to subscribe to term deposits. However, most customers do not subscribe which makes the dataset imbalanced and harder to evaluate using accuracy alone.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Our goal is to build a machine learning model that predicts which customers are more likely to subscribe. </a:t>
            </a:r>
          </a:p>
          <a:p>
            <a:pPr marL="171450" indent="-171450" algn="just">
              <a:buFont typeface="Arial" panose="020B0604020202020204" pitchFamily="34" charset="0"/>
              <a:buChar char="•"/>
            </a:pPr>
            <a:endParaRPr lang="en-US" sz="1200" dirty="0">
              <a:solidFill>
                <a:schemeClr val="bg1"/>
              </a:solidFill>
            </a:endParaRPr>
          </a:p>
          <a:p>
            <a:pPr marL="171450" indent="-171450" algn="just"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chemeClr val="bg1"/>
                </a:solidFill>
              </a:rPr>
              <a:t>This helps the bank focus on high-potential customers and reduce unnecessary calls and improve campaign efficiency.</a:t>
            </a:r>
          </a:p>
        </p:txBody>
      </p:sp>
      <p:sp>
        <p:nvSpPr>
          <p:cNvPr id="5" name="Text 3"/>
          <p:cNvSpPr/>
          <p:nvPr/>
        </p:nvSpPr>
        <p:spPr>
          <a:xfrm>
            <a:off x="457199" y="3076303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QUESTIONS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199" y="3233057"/>
            <a:ext cx="5029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Which factors most influence subscription?</a:t>
            </a:r>
            <a:endParaRPr lang="en-US" sz="1200" dirty="0"/>
          </a:p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Q2: Which model best predicts who will subscribe?</a:t>
            </a:r>
            <a:endParaRPr lang="en-US" sz="1200" dirty="0"/>
          </a:p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Q3: What cutoff gives the best precision vs sensitivity?</a:t>
            </a:r>
            <a:endParaRPr lang="en-US" sz="1200" dirty="0"/>
          </a:p>
          <a:p>
            <a:pPr>
              <a:spcAft>
                <a:spcPts val="300"/>
              </a:spcAft>
              <a:buSzPct val="100000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Q4: Which model is most usable for the business?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760720" y="960120"/>
            <a:ext cx="3337560" cy="3331029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832565" y="9829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latin typeface="Arial" pitchFamily="34" charset="0"/>
                <a:ea typeface="Arial" pitchFamily="34" charset="-122"/>
                <a:cs typeface="Arial" pitchFamily="34" charset="-120"/>
              </a:rPr>
              <a:t>KEY TERMS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5760720" y="1325880"/>
            <a:ext cx="3272246" cy="26860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just"/>
            <a:r>
              <a:rPr lang="en-US" sz="1100" b="1" dirty="0"/>
              <a:t>Sensitivity</a:t>
            </a:r>
            <a:r>
              <a:rPr lang="en-US" sz="1100" dirty="0">
                <a:solidFill>
                  <a:schemeClr val="bg1"/>
                </a:solidFill>
              </a:rPr>
              <a:t> tells us how many actual subscribers the model was able to identify. This is important because missing potential subscribers means losing business opportunities.</a:t>
            </a:r>
          </a:p>
          <a:p>
            <a:pPr algn="just"/>
            <a:r>
              <a:rPr lang="en-US" sz="1100" b="1" dirty="0"/>
              <a:t>Precision</a:t>
            </a:r>
            <a:r>
              <a:rPr lang="en-US" sz="1100" dirty="0">
                <a:solidFill>
                  <a:schemeClr val="bg1"/>
                </a:solidFill>
              </a:rPr>
              <a:t> tells us how many customers predicted as subscribers subscribed. This helps us avoid wasting calls on customers who are unlikely to convert.</a:t>
            </a:r>
          </a:p>
          <a:p>
            <a:pPr algn="just"/>
            <a:r>
              <a:rPr lang="en-US" sz="1100" b="1" dirty="0"/>
              <a:t>ROC AUC</a:t>
            </a:r>
            <a:r>
              <a:rPr lang="en-US" sz="1100" dirty="0"/>
              <a:t> </a:t>
            </a:r>
            <a:r>
              <a:rPr lang="en-US" sz="1100" dirty="0">
                <a:solidFill>
                  <a:schemeClr val="bg1"/>
                </a:solidFill>
              </a:rPr>
              <a:t>measures how well the model ranks likely subscribers above non-subscribers. A higher AUC means the model is better at separating the two groups.</a:t>
            </a:r>
          </a:p>
          <a:p>
            <a:pPr algn="just"/>
            <a:r>
              <a:rPr lang="en-US" sz="1100" b="1" dirty="0"/>
              <a:t>Cutoff</a:t>
            </a:r>
            <a:r>
              <a:rPr lang="en-US" sz="1100" dirty="0">
                <a:solidFill>
                  <a:schemeClr val="bg1"/>
                </a:solidFill>
              </a:rPr>
              <a:t> is the probability threshold used to decide whether a customer is classified as a subscriber. The default is usually 0.5 but adjusting it can improve the balance between finding more subscribers and keeping predictions reliable.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256032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57200" y="2286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2181497" y="68580"/>
            <a:ext cx="7556863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PREPROCESSING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411480" y="770709"/>
            <a:ext cx="8229600" cy="179614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We used seed 12345 so the random data split stays consistent and gives the same result every time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For </a:t>
            </a:r>
            <a:r>
              <a:rPr lang="en-US" sz="1100" b="1" dirty="0">
                <a:solidFill>
                  <a:schemeClr val="bg1"/>
                </a:solidFill>
              </a:rPr>
              <a:t>Logistic Regression and Decision Tree</a:t>
            </a:r>
            <a:r>
              <a:rPr lang="en-US" sz="1100" dirty="0">
                <a:solidFill>
                  <a:schemeClr val="bg1"/>
                </a:solidFill>
              </a:rPr>
              <a:t>, we used </a:t>
            </a:r>
            <a:r>
              <a:rPr lang="en-US" sz="1100" b="1" dirty="0">
                <a:solidFill>
                  <a:schemeClr val="bg1"/>
                </a:solidFill>
              </a:rPr>
              <a:t>6K records for training</a:t>
            </a:r>
            <a:r>
              <a:rPr lang="en-US" sz="1100" dirty="0">
                <a:solidFill>
                  <a:schemeClr val="bg1"/>
                </a:solidFill>
              </a:rPr>
              <a:t> and </a:t>
            </a:r>
            <a:r>
              <a:rPr lang="en-US" sz="1100" b="1" dirty="0">
                <a:solidFill>
                  <a:schemeClr val="bg1"/>
                </a:solidFill>
              </a:rPr>
              <a:t>4K for validation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For the </a:t>
            </a:r>
            <a:r>
              <a:rPr lang="en-US" sz="1100" b="1" dirty="0">
                <a:solidFill>
                  <a:schemeClr val="bg1"/>
                </a:solidFill>
              </a:rPr>
              <a:t>Neural Network</a:t>
            </a:r>
            <a:r>
              <a:rPr lang="en-US" sz="1100" dirty="0">
                <a:solidFill>
                  <a:schemeClr val="bg1"/>
                </a:solidFill>
              </a:rPr>
              <a:t>, we used </a:t>
            </a:r>
            <a:r>
              <a:rPr lang="en-US" sz="1100" b="1" dirty="0">
                <a:solidFill>
                  <a:schemeClr val="bg1"/>
                </a:solidFill>
              </a:rPr>
              <a:t>5K for training</a:t>
            </a:r>
            <a:r>
              <a:rPr lang="en-US" sz="1100" dirty="0">
                <a:solidFill>
                  <a:schemeClr val="bg1"/>
                </a:solidFill>
              </a:rPr>
              <a:t>, </a:t>
            </a:r>
            <a:r>
              <a:rPr lang="en-US" sz="1100" b="1" dirty="0">
                <a:solidFill>
                  <a:schemeClr val="bg1"/>
                </a:solidFill>
              </a:rPr>
              <a:t>3K for validation</a:t>
            </a:r>
            <a:r>
              <a:rPr lang="en-US" sz="1100" dirty="0">
                <a:solidFill>
                  <a:schemeClr val="bg1"/>
                </a:solidFill>
              </a:rPr>
              <a:t>, and </a:t>
            </a:r>
            <a:r>
              <a:rPr lang="en-US" sz="1100" b="1" dirty="0">
                <a:solidFill>
                  <a:schemeClr val="bg1"/>
                </a:solidFill>
              </a:rPr>
              <a:t>2K for testing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We used both </a:t>
            </a:r>
            <a:r>
              <a:rPr lang="en-US" sz="1100" b="1" dirty="0">
                <a:solidFill>
                  <a:schemeClr val="bg1"/>
                </a:solidFill>
              </a:rPr>
              <a:t>number-based variables</a:t>
            </a:r>
            <a:r>
              <a:rPr lang="en-US" sz="1100" dirty="0">
                <a:solidFill>
                  <a:schemeClr val="bg1"/>
                </a:solidFill>
              </a:rPr>
              <a:t> like </a:t>
            </a:r>
            <a:r>
              <a:rPr lang="en-US" sz="1100" b="1" dirty="0">
                <a:solidFill>
                  <a:schemeClr val="bg1"/>
                </a:solidFill>
              </a:rPr>
              <a:t>age, duration, Euribor3m and nr.employed </a:t>
            </a:r>
            <a:r>
              <a:rPr lang="en-US" sz="1100" dirty="0">
                <a:solidFill>
                  <a:schemeClr val="bg1"/>
                </a:solidFill>
              </a:rPr>
              <a:t>and </a:t>
            </a:r>
            <a:r>
              <a:rPr lang="en-US" sz="1100" b="1" dirty="0">
                <a:solidFill>
                  <a:schemeClr val="bg1"/>
                </a:solidFill>
              </a:rPr>
              <a:t>category-based variables</a:t>
            </a:r>
            <a:r>
              <a:rPr lang="en-US" sz="1100" dirty="0">
                <a:solidFill>
                  <a:schemeClr val="bg1"/>
                </a:solidFill>
              </a:rPr>
              <a:t> like </a:t>
            </a:r>
            <a:r>
              <a:rPr lang="en-US" sz="1100" b="1" dirty="0">
                <a:solidFill>
                  <a:schemeClr val="bg1"/>
                </a:solidFill>
              </a:rPr>
              <a:t>job, marital status and previous outcome</a:t>
            </a:r>
            <a:r>
              <a:rPr lang="en-US" sz="1100" dirty="0">
                <a:solidFill>
                  <a:schemeClr val="bg1"/>
                </a:solidFill>
              </a:rPr>
              <a:t>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1100" dirty="0">
              <a:solidFill>
                <a:schemeClr val="bg1"/>
              </a:solidFill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chemeClr val="bg1"/>
                </a:solidFill>
              </a:rPr>
              <a:t>Missing values were filled in, and some variables were standardized so the models could read the data properly</a:t>
            </a:r>
            <a:r>
              <a:rPr lang="en-US" sz="1100" dirty="0"/>
              <a:t>.</a:t>
            </a:r>
          </a:p>
          <a:p>
            <a:pPr>
              <a:spcAft>
                <a:spcPts val="200"/>
              </a:spcAft>
              <a:buSzPct val="100000"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57200" y="27432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kern="0" spc="3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FOUND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457200" y="3200400"/>
            <a:ext cx="4023360" cy="868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5943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STRONGEST PREDICTOR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9436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Duration:- longer calls mean higher subscription chance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800600" y="3200400"/>
            <a:ext cx="4023360" cy="86868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4937760" y="324612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MULTICOLLINEARITY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937760" y="352044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Euribor3m &amp; </a:t>
            </a:r>
            <a:r>
              <a:rPr lang="en-US" sz="1100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Nr.employed</a:t>
            </a: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: ~0.95 correlation, </a:t>
            </a:r>
            <a:r>
              <a:rPr lang="en-US" sz="1100" dirty="0">
                <a:solidFill>
                  <a:schemeClr val="bg1"/>
                </a:solidFill>
              </a:rPr>
              <a:t>they move very closely together and may carry similar information in the model</a:t>
            </a:r>
          </a:p>
        </p:txBody>
      </p:sp>
      <p:sp>
        <p:nvSpPr>
          <p:cNvPr id="13" name="Shape 11"/>
          <p:cNvSpPr/>
          <p:nvPr/>
        </p:nvSpPr>
        <p:spPr>
          <a:xfrm>
            <a:off x="457200" y="4206240"/>
            <a:ext cx="4023360" cy="86868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59436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FACTORS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9436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Economic factors like </a:t>
            </a:r>
            <a:r>
              <a:rPr lang="en-US" sz="1100" b="1" dirty="0">
                <a:solidFill>
                  <a:schemeClr val="bg1"/>
                </a:solidFill>
              </a:rPr>
              <a:t>employment variation rate</a:t>
            </a:r>
            <a:r>
              <a:rPr lang="en-US" sz="1100" dirty="0">
                <a:solidFill>
                  <a:schemeClr val="bg1"/>
                </a:solidFill>
              </a:rPr>
              <a:t> and </a:t>
            </a:r>
            <a:r>
              <a:rPr lang="en-US" sz="1100" b="1" dirty="0">
                <a:solidFill>
                  <a:schemeClr val="bg1"/>
                </a:solidFill>
              </a:rPr>
              <a:t>consumer price index</a:t>
            </a:r>
            <a:r>
              <a:rPr lang="en-US" sz="1100" dirty="0">
                <a:solidFill>
                  <a:schemeClr val="bg1"/>
                </a:solidFill>
              </a:rPr>
              <a:t> influenced customer subscription outcomes</a:t>
            </a:r>
          </a:p>
        </p:txBody>
      </p:sp>
      <p:sp>
        <p:nvSpPr>
          <p:cNvPr id="16" name="Shape 14"/>
          <p:cNvSpPr/>
          <p:nvPr/>
        </p:nvSpPr>
        <p:spPr>
          <a:xfrm>
            <a:off x="4800600" y="4206240"/>
            <a:ext cx="4023360" cy="86868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4937760" y="4251960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IMBALANCE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93776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dirty="0">
                <a:solidFill>
                  <a:schemeClr val="bg1"/>
                </a:solidFill>
              </a:rPr>
              <a:t>Since about </a:t>
            </a:r>
            <a:r>
              <a:rPr lang="en-US" sz="1100" b="1" dirty="0">
                <a:solidFill>
                  <a:schemeClr val="bg1"/>
                </a:solidFill>
              </a:rPr>
              <a:t>89% of customers did not subscribe</a:t>
            </a:r>
            <a:r>
              <a:rPr lang="en-US" sz="1100" dirty="0">
                <a:solidFill>
                  <a:schemeClr val="bg1"/>
                </a:solidFill>
              </a:rPr>
              <a:t>, accuracy alone can be misleading, so we evaluated the models using </a:t>
            </a:r>
            <a:r>
              <a:rPr lang="en-US" sz="1100" b="1" dirty="0">
                <a:solidFill>
                  <a:schemeClr val="bg1"/>
                </a:solidFill>
              </a:rPr>
              <a:t>AUC and F1-score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5FF23-E4C6-7EB1-C7DF-0368B46D53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0B08335-88A4-3389-5DAA-4DCEA35B8155}"/>
              </a:ext>
            </a:extLst>
          </p:cNvPr>
          <p:cNvSpPr/>
          <p:nvPr/>
        </p:nvSpPr>
        <p:spPr>
          <a:xfrm>
            <a:off x="274320" y="91440"/>
            <a:ext cx="6400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0" dirty="0"/>
              <a:t>MODELS</a:t>
            </a: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3D353E6-801E-0867-0DFB-230EA5B281FA}"/>
              </a:ext>
            </a:extLst>
          </p:cNvPr>
          <p:cNvSpPr/>
          <p:nvPr/>
        </p:nvSpPr>
        <p:spPr>
          <a:xfrm>
            <a:off x="274320" y="1005840"/>
            <a:ext cx="6400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USED</a:t>
            </a:r>
            <a:endParaRPr lang="en-US" sz="70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11D2AEE-B925-AEE2-A217-10CFFAC9FD3F}"/>
              </a:ext>
            </a:extLst>
          </p:cNvPr>
          <p:cNvSpPr/>
          <p:nvPr/>
        </p:nvSpPr>
        <p:spPr>
          <a:xfrm>
            <a:off x="45720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DESCRIPTION</a:t>
            </a:r>
            <a:endParaRPr lang="en-US" sz="10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54E68F0C-0B08-1BA8-D3D5-D962FA63F863}"/>
              </a:ext>
            </a:extLst>
          </p:cNvPr>
          <p:cNvSpPr/>
          <p:nvPr/>
        </p:nvSpPr>
        <p:spPr>
          <a:xfrm>
            <a:off x="326571" y="182880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2913A56D-E128-0DF0-5FCC-07A8A3AE2AC0}"/>
              </a:ext>
            </a:extLst>
          </p:cNvPr>
          <p:cNvSpPr/>
          <p:nvPr/>
        </p:nvSpPr>
        <p:spPr>
          <a:xfrm>
            <a:off x="359229" y="18288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 </a:t>
            </a:r>
            <a:endParaRPr lang="en-US" sz="1000" dirty="0"/>
          </a:p>
        </p:txBody>
      </p:sp>
      <p:sp>
        <p:nvSpPr>
          <p:cNvPr id="9" name="Text 7">
            <a:extLst>
              <a:ext uri="{FF2B5EF4-FFF2-40B4-BE49-F238E27FC236}">
                <a16:creationId xmlns:a16="http://schemas.microsoft.com/office/drawing/2014/main" id="{37DB61B9-2FB6-12AC-E035-379B315D3E24}"/>
              </a:ext>
            </a:extLst>
          </p:cNvPr>
          <p:cNvSpPr/>
          <p:nvPr/>
        </p:nvSpPr>
        <p:spPr>
          <a:xfrm>
            <a:off x="6217920" y="246888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0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83105947-EEFE-8B30-4584-DB2CDCBAEE95}"/>
              </a:ext>
            </a:extLst>
          </p:cNvPr>
          <p:cNvSpPr/>
          <p:nvPr/>
        </p:nvSpPr>
        <p:spPr>
          <a:xfrm>
            <a:off x="457200" y="306324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12" name="Shape 10">
            <a:extLst>
              <a:ext uri="{FF2B5EF4-FFF2-40B4-BE49-F238E27FC236}">
                <a16:creationId xmlns:a16="http://schemas.microsoft.com/office/drawing/2014/main" id="{C87429C6-747E-EC24-9DB8-32761244A5E4}"/>
              </a:ext>
            </a:extLst>
          </p:cNvPr>
          <p:cNvSpPr/>
          <p:nvPr/>
        </p:nvSpPr>
        <p:spPr>
          <a:xfrm>
            <a:off x="326571" y="2571750"/>
            <a:ext cx="2697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A30D11B1-B25E-75C4-4D03-D3F60C72085A}"/>
              </a:ext>
            </a:extLst>
          </p:cNvPr>
          <p:cNvSpPr/>
          <p:nvPr/>
        </p:nvSpPr>
        <p:spPr>
          <a:xfrm>
            <a:off x="323305" y="2588895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NEURAL NETWORK</a:t>
            </a:r>
            <a:endParaRPr lang="en-US" sz="10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9549EF98-9DB8-039D-C9FE-B4064F08B777}"/>
              </a:ext>
            </a:extLst>
          </p:cNvPr>
          <p:cNvSpPr/>
          <p:nvPr/>
        </p:nvSpPr>
        <p:spPr>
          <a:xfrm>
            <a:off x="391886" y="3657600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COMPARISON</a:t>
            </a:r>
            <a:endParaRPr lang="en-US" sz="100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7CD5C2FE-72F2-0165-9893-F022E32FA64D}"/>
              </a:ext>
            </a:extLst>
          </p:cNvPr>
          <p:cNvSpPr/>
          <p:nvPr/>
        </p:nvSpPr>
        <p:spPr>
          <a:xfrm>
            <a:off x="328204" y="3246120"/>
            <a:ext cx="2697480" cy="4572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14AB6425-4CCF-3401-6E58-CA4039687EE5}"/>
              </a:ext>
            </a:extLst>
          </p:cNvPr>
          <p:cNvSpPr/>
          <p:nvPr/>
        </p:nvSpPr>
        <p:spPr>
          <a:xfrm>
            <a:off x="297179" y="3238773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CLASSIFICATION TREE</a:t>
            </a:r>
            <a:endParaRPr lang="en-US" sz="1000" dirty="0"/>
          </a:p>
        </p:txBody>
      </p:sp>
      <p:sp>
        <p:nvSpPr>
          <p:cNvPr id="18" name="Shape 16">
            <a:extLst>
              <a:ext uri="{FF2B5EF4-FFF2-40B4-BE49-F238E27FC236}">
                <a16:creationId xmlns:a16="http://schemas.microsoft.com/office/drawing/2014/main" id="{FE2D6235-119D-E31D-87DD-9BA6643CA812}"/>
              </a:ext>
            </a:extLst>
          </p:cNvPr>
          <p:cNvSpPr/>
          <p:nvPr/>
        </p:nvSpPr>
        <p:spPr>
          <a:xfrm>
            <a:off x="323305" y="3998868"/>
            <a:ext cx="2697480" cy="4572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E6C53C2B-B8D1-5896-48FC-4CC8F227392B}"/>
              </a:ext>
            </a:extLst>
          </p:cNvPr>
          <p:cNvSpPr/>
          <p:nvPr/>
        </p:nvSpPr>
        <p:spPr>
          <a:xfrm>
            <a:off x="323305" y="3991521"/>
            <a:ext cx="2697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KNN CLASSIFICATION</a:t>
            </a:r>
            <a:endParaRPr lang="en-US" sz="1000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D1331C50-6D76-EE8B-34E6-3B1D7D95B241}"/>
              </a:ext>
            </a:extLst>
          </p:cNvPr>
          <p:cNvSpPr txBox="1"/>
          <p:nvPr/>
        </p:nvSpPr>
        <p:spPr>
          <a:xfrm>
            <a:off x="3025684" y="1826784"/>
            <a:ext cx="610362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Used as the simple baseline model with selected predictors such as </a:t>
            </a:r>
            <a:r>
              <a:rPr lang="en-US" sz="1200" b="1" dirty="0"/>
              <a:t>previous</a:t>
            </a:r>
            <a:r>
              <a:rPr lang="en-US" sz="1200" dirty="0"/>
              <a:t>, </a:t>
            </a:r>
            <a:r>
              <a:rPr lang="en-US" sz="1200" b="1" dirty="0"/>
              <a:t>age,</a:t>
            </a:r>
            <a:r>
              <a:rPr lang="en-US" sz="1200" dirty="0"/>
              <a:t> </a:t>
            </a:r>
            <a:r>
              <a:rPr lang="en-US" sz="1200" b="1" dirty="0"/>
              <a:t>campaign,</a:t>
            </a:r>
          </a:p>
          <a:p>
            <a:r>
              <a:rPr lang="en-US" sz="1200" b="1" dirty="0"/>
              <a:t>p-days,</a:t>
            </a:r>
            <a:r>
              <a:rPr lang="en-US" sz="1200" dirty="0"/>
              <a:t> </a:t>
            </a:r>
            <a:r>
              <a:rPr lang="en-US" sz="1200" b="1" dirty="0"/>
              <a:t>euribor3m,</a:t>
            </a:r>
            <a:r>
              <a:rPr lang="en-US" sz="1200" dirty="0"/>
              <a:t> </a:t>
            </a:r>
            <a:r>
              <a:rPr lang="en-US" sz="1200" b="1" dirty="0"/>
              <a:t>job</a:t>
            </a:r>
            <a:r>
              <a:rPr lang="en-US" sz="1200" dirty="0"/>
              <a:t> and </a:t>
            </a:r>
            <a:r>
              <a:rPr lang="en-US" sz="1200" b="1" dirty="0"/>
              <a:t>p-outcome</a:t>
            </a:r>
            <a:r>
              <a:rPr lang="en-US" sz="1200" dirty="0"/>
              <a:t> to explain subscription probability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F24B73D-8FF7-6AFC-ACA4-B89F15F026F1}"/>
              </a:ext>
            </a:extLst>
          </p:cNvPr>
          <p:cNvSpPr txBox="1"/>
          <p:nvPr/>
        </p:nvSpPr>
        <p:spPr>
          <a:xfrm>
            <a:off x="3056709" y="2567285"/>
            <a:ext cx="599095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Used on the </a:t>
            </a:r>
            <a:r>
              <a:rPr lang="en-US" sz="1200" b="1" dirty="0"/>
              <a:t>6K training and 4K validation </a:t>
            </a:r>
            <a:r>
              <a:rPr lang="en-US" sz="1200" dirty="0"/>
              <a:t>split to create clear decision rules from customer and campaign variables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7A6585-5E98-7F43-14F8-8D692A4268EB}"/>
              </a:ext>
            </a:extLst>
          </p:cNvPr>
          <p:cNvSpPr txBox="1"/>
          <p:nvPr/>
        </p:nvSpPr>
        <p:spPr>
          <a:xfrm>
            <a:off x="3089366" y="3253085"/>
            <a:ext cx="58439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dirty="0"/>
              <a:t>Used with </a:t>
            </a:r>
            <a:r>
              <a:rPr lang="en-US" sz="1200" b="1" dirty="0"/>
              <a:t>5K training, 3K validation and 2K testing </a:t>
            </a:r>
            <a:r>
              <a:rPr lang="en-US" sz="1200" dirty="0"/>
              <a:t>records to capture more complex patterns after standardizing the input variables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E37DBC21-C49D-221E-CAFC-A024ED9FBC2C}"/>
              </a:ext>
            </a:extLst>
          </p:cNvPr>
          <p:cNvSpPr txBox="1"/>
          <p:nvPr/>
        </p:nvSpPr>
        <p:spPr>
          <a:xfrm>
            <a:off x="3089366" y="3998868"/>
            <a:ext cx="5894613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 b="1" dirty="0"/>
              <a:t>Missing values</a:t>
            </a:r>
            <a:r>
              <a:rPr lang="en-US" sz="1200" dirty="0"/>
              <a:t> were filled and </a:t>
            </a:r>
            <a:r>
              <a:rPr lang="en-US" sz="1200" b="1" dirty="0"/>
              <a:t>key numerical variables </a:t>
            </a:r>
            <a:r>
              <a:rPr lang="en-US" sz="1200" dirty="0"/>
              <a:t>were scaled so the models could use clean and comparable data.</a:t>
            </a:r>
          </a:p>
        </p:txBody>
      </p:sp>
    </p:spTree>
    <p:extLst>
      <p:ext uri="{BB962C8B-B14F-4D97-AF65-F5344CB8AC3E}">
        <p14:creationId xmlns:p14="http://schemas.microsoft.com/office/powerpoint/2010/main" val="35214594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CF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27363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</a:t>
            </a:r>
            <a:endParaRPr lang="en-US" sz="55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39841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REGRESSION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398416" y="1345475"/>
            <a:ext cx="8595361" cy="105482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We used </a:t>
            </a:r>
            <a:r>
              <a:rPr lang="en-US" sz="1200" b="1" dirty="0"/>
              <a:t>Logistic Regression</a:t>
            </a:r>
            <a:r>
              <a:rPr lang="en-US" sz="1200" dirty="0"/>
              <a:t> as a simple starting model because it is easy to understand and explain.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Each variable shows how it affects the chance of a customer subscribing to a term deposit.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The main variables used were </a:t>
            </a:r>
            <a:r>
              <a:rPr lang="en-US" sz="1200" b="1" dirty="0"/>
              <a:t>previous, age, campaign, p-days, euribor3m, job and p-outcome</a:t>
            </a:r>
            <a:r>
              <a:rPr lang="en-US" sz="1200" dirty="0"/>
              <a:t>.</a:t>
            </a:r>
          </a:p>
          <a:p>
            <a:pPr marL="171450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200" dirty="0"/>
              <a:t>We selected these variables by checking which predictors were useful and statistically important for the model.</a:t>
            </a:r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8174172"/>
              </p:ext>
            </p:extLst>
          </p:nvPr>
        </p:nvGraphicFramePr>
        <p:xfrm>
          <a:off x="457200" y="2743200"/>
          <a:ext cx="3931920" cy="1371600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F1124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F1124"/>
                          </a:solidFill>
                        </a:rPr>
                        <a:t>TRAINING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F1124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89.15%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90.33%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Specificity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98.07%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99.01%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20.08%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22.30%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ROC 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0.7572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0.7569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457200" y="420624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latin typeface="Arial" pitchFamily="34" charset="0"/>
                <a:ea typeface="Arial" pitchFamily="34" charset="-122"/>
                <a:cs typeface="Arial" pitchFamily="34" charset="-120"/>
              </a:rPr>
              <a:t>Sensitivity = 22%  </a:t>
            </a:r>
            <a:r>
              <a:rPr lang="en-US" sz="1100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 which misses 78% of real subscribers at default cutoff. Needs cutoff tuning.</a:t>
            </a:r>
            <a:endParaRPr lang="en-US" sz="1100" dirty="0"/>
          </a:p>
        </p:txBody>
      </p:sp>
      <p:pic>
        <p:nvPicPr>
          <p:cNvPr id="7" name="Image 0" descr="/home/claude/WhatsApp_Image_2026-05-03_at_9_26_13_PM.jpeg"/>
          <p:cNvPicPr>
            <a:picLocks noChangeAspect="1"/>
          </p:cNvPicPr>
          <p:nvPr/>
        </p:nvPicPr>
        <p:blipFill>
          <a:blip r:embed="rId3"/>
          <a:srcRect l="3588" t="22322" b="12500"/>
          <a:stretch>
            <a:fillRect/>
          </a:stretch>
        </p:blipFill>
        <p:spPr>
          <a:xfrm>
            <a:off x="5394960" y="2462348"/>
            <a:ext cx="3474720" cy="2109652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ROC (AUC=0.757), Decile Lift, Cumulative Lift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LOGISTIC REGRESSION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6858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kern="0" spc="2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&amp; BUSINESS ANSWER</a:t>
            </a:r>
            <a:endParaRPr lang="en-US" sz="1800" dirty="0"/>
          </a:p>
        </p:txBody>
      </p:sp>
      <p:pic>
        <p:nvPicPr>
          <p:cNvPr id="4" name="Image 0" descr="/home/claude/WhatsApp_Image_2026-05-03_at_9_26_13_PM__2_.jpeg"/>
          <p:cNvPicPr>
            <a:picLocks noChangeAspect="1"/>
          </p:cNvPicPr>
          <p:nvPr/>
        </p:nvPicPr>
        <p:blipFill>
          <a:blip r:embed="rId3"/>
          <a:srcRect l="4000" t="22857" r="4572" b="17755"/>
          <a:stretch>
            <a:fillRect/>
          </a:stretch>
        </p:blipFill>
        <p:spPr>
          <a:xfrm>
            <a:off x="163286" y="1221377"/>
            <a:ext cx="4742511" cy="31546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74320" y="448056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(AUC=0.757)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120640" y="1221377"/>
            <a:ext cx="3749040" cy="365760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 dirty="0"/>
          </a:p>
        </p:txBody>
      </p:sp>
      <p:sp>
        <p:nvSpPr>
          <p:cNvPr id="7" name="Text 4"/>
          <p:cNvSpPr/>
          <p:nvPr/>
        </p:nvSpPr>
        <p:spPr>
          <a:xfrm>
            <a:off x="5303520" y="137160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ANSWER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244737" y="1662249"/>
            <a:ext cx="3383280" cy="279545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Strengths: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Very high specificity (99%)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Coefficients are explainable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Stable across train/validation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Weakness: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Misses 78% of subscribers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Example: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35-year-old, 300s call, positive previous outcome, low euribor3m → model predicts high subscription probability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457200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457200" y="822960"/>
            <a:ext cx="5486400" cy="5257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372291" y="1245870"/>
            <a:ext cx="7609114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/>
              <a:t>Why? </a:t>
            </a:r>
            <a:r>
              <a:rPr lang="en-US" sz="1200" dirty="0"/>
              <a:t>Captures complex and non-linear customer patterns that Logistic Regression may miss.</a:t>
            </a: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/>
              <a:t>Structure:</a:t>
            </a:r>
            <a:r>
              <a:rPr lang="en-US" sz="1200" dirty="0"/>
              <a:t> 1 hidden layer with 5 neurons and sigmoid activation and learning rate 0.1.</a:t>
            </a:r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b="1" dirty="0"/>
              <a:t>Split:</a:t>
            </a:r>
            <a:r>
              <a:rPr lang="en-US" sz="1200" dirty="0"/>
              <a:t> 5K training and 3K validation and 2K testing to check if the model works well on new data.</a:t>
            </a:r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21278458"/>
              </p:ext>
            </p:extLst>
          </p:nvPr>
        </p:nvGraphicFramePr>
        <p:xfrm>
          <a:off x="457200" y="2244362"/>
          <a:ext cx="3200400" cy="1028700"/>
        </p:xfrm>
        <a:graphic>
          <a:graphicData uri="http://schemas.openxmlformats.org/drawingml/2006/table">
            <a:tbl>
              <a:tblPr/>
              <a:tblGrid>
                <a:gridCol w="16459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DATASET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112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ROC AUC</a:t>
                      </a:r>
                      <a:endParaRPr lang="en-US" sz="10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F1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Training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0.8135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Validation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0.8098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14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Testing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1B9E5A"/>
                          </a:solidFill>
                        </a:rPr>
                        <a:t>0.8270</a:t>
                      </a:r>
                      <a:endParaRPr lang="en-US" sz="1100" dirty="0"/>
                    </a:p>
                  </a:txBody>
                  <a:tcPr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94760"/>
            <a:ext cx="4114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7" name="Image 0" descr="/home/claude/WhatsApp_Image_2026-05-03_at_9_26_13_PM__1_.jpeg"/>
          <p:cNvPicPr>
            <a:picLocks noChangeAspect="1"/>
          </p:cNvPicPr>
          <p:nvPr/>
        </p:nvPicPr>
        <p:blipFill>
          <a:blip r:embed="rId3"/>
          <a:srcRect l="2221" t="22544" r="1905" b="16741"/>
          <a:stretch>
            <a:fillRect/>
          </a:stretch>
        </p:blipFill>
        <p:spPr>
          <a:xfrm>
            <a:off x="4572001" y="2468880"/>
            <a:ext cx="4297680" cy="2103120"/>
          </a:xfrm>
          <a:prstGeom prst="rect">
            <a:avLst/>
          </a:prstGeom>
        </p:spPr>
      </p:pic>
      <p:sp>
        <p:nvSpPr>
          <p:cNvPr id="5" name="Text 4"/>
          <p:cNvSpPr/>
          <p:nvPr/>
        </p:nvSpPr>
        <p:spPr>
          <a:xfrm>
            <a:off x="4754880" y="45720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ROC (AUC=0.810), Decile Lift, Cumulative Lift</a:t>
            </a:r>
            <a:endParaRPr lang="en-US" sz="900" dirty="0"/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A09DA69F-9446-C592-2BC8-D4E1B415B0B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683402"/>
              </p:ext>
            </p:extLst>
          </p:nvPr>
        </p:nvGraphicFramePr>
        <p:xfrm>
          <a:off x="457199" y="3299743"/>
          <a:ext cx="3139984" cy="1571614"/>
        </p:xfrm>
        <a:graphic>
          <a:graphicData uri="http://schemas.openxmlformats.org/drawingml/2006/table">
            <a:tbl>
              <a:tblPr/>
              <a:tblGrid>
                <a:gridCol w="1569992">
                  <a:extLst>
                    <a:ext uri="{9D8B030D-6E8A-4147-A177-3AD203B41FA5}">
                      <a16:colId xmlns:a16="http://schemas.microsoft.com/office/drawing/2014/main" val="1654644340"/>
                    </a:ext>
                  </a:extLst>
                </a:gridCol>
                <a:gridCol w="1569992">
                  <a:extLst>
                    <a:ext uri="{9D8B030D-6E8A-4147-A177-3AD203B41FA5}">
                      <a16:colId xmlns:a16="http://schemas.microsoft.com/office/drawing/2014/main" val="2724964566"/>
                    </a:ext>
                  </a:extLst>
                </a:gridCol>
              </a:tblGrid>
              <a:tr h="397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METRIC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1124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b="1" dirty="0">
                          <a:solidFill>
                            <a:schemeClr val="bg1"/>
                          </a:solidFill>
                        </a:rPr>
                        <a:t>VALIDATION VALUE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CF1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6810640"/>
                  </a:ext>
                </a:extLst>
              </a:tr>
              <a:tr h="22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 dirty="0"/>
                        <a:t>Accuracy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~88.5%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69165293"/>
                  </a:ext>
                </a:extLst>
              </a:tr>
              <a:tr h="22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Error Rate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~11.5%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66279615"/>
                  </a:ext>
                </a:extLst>
              </a:tr>
              <a:tr h="226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Specificity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Very High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31121"/>
                  </a:ext>
                </a:extLst>
              </a:tr>
              <a:tr h="39718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100"/>
                        <a:t>Sensitivity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r>
                        <a:rPr lang="en-US" sz="1100" dirty="0"/>
                        <a:t>Very Low at 0.5 cutoff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0224646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NEURAL</a:t>
            </a: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 </a:t>
            </a:r>
            <a:r>
              <a:rPr lang="en-US" sz="4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NETWORK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2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TRAINING, TESTING &amp; BUSINESS ANSWER</a:t>
            </a:r>
            <a:endParaRPr lang="en-US" sz="1400" dirty="0"/>
          </a:p>
        </p:txBody>
      </p:sp>
      <p:pic>
        <p:nvPicPr>
          <p:cNvPr id="4" name="Image 0" descr="/home/claude/WhatsApp_Image_2026-05-03_at_9_26_15_PM__1_.jpeg"/>
          <p:cNvPicPr>
            <a:picLocks noChangeAspect="1"/>
          </p:cNvPicPr>
          <p:nvPr/>
        </p:nvPicPr>
        <p:blipFill>
          <a:blip r:embed="rId3"/>
          <a:srcRect l="3190" t="23148" r="2128" b="12963"/>
          <a:stretch>
            <a:fillRect/>
          </a:stretch>
        </p:blipFill>
        <p:spPr>
          <a:xfrm>
            <a:off x="320040" y="1123406"/>
            <a:ext cx="4069080" cy="2331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5204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Training (AUC=0.813)</a:t>
            </a:r>
            <a:endParaRPr lang="en-US" sz="900" dirty="0"/>
          </a:p>
        </p:txBody>
      </p:sp>
      <p:pic>
        <p:nvPicPr>
          <p:cNvPr id="6" name="Image 1" descr="/home/claude/WhatsApp_Image_2026-05-03_at_9_26_13_PM__3_.jpeg"/>
          <p:cNvPicPr>
            <a:picLocks noChangeAspect="1"/>
          </p:cNvPicPr>
          <p:nvPr/>
        </p:nvPicPr>
        <p:blipFill>
          <a:blip r:embed="rId4"/>
          <a:srcRect l="3799" t="23149" r="3191" b="18518"/>
          <a:stretch>
            <a:fillRect/>
          </a:stretch>
        </p:blipFill>
        <p:spPr>
          <a:xfrm>
            <a:off x="4663440" y="1123405"/>
            <a:ext cx="4160520" cy="2331719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52044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 (AUC=0.827)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365760" y="4020094"/>
            <a:ext cx="8229600" cy="760912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640080" y="393192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Business: NN ranks customers better than logistic regression (AUC 0.81 vs 0.76). When sorted by predicted probability, real subscribers appear near the top. But it's a black box :- hard to explain WHY to management.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F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CLASSIFICATION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3657600" cy="4922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</a:t>
            </a:r>
            <a:endParaRPr lang="en-US" sz="5500" dirty="0"/>
          </a:p>
        </p:txBody>
      </p:sp>
      <p:sp>
        <p:nvSpPr>
          <p:cNvPr id="4" name="Text 2"/>
          <p:cNvSpPr/>
          <p:nvPr/>
        </p:nvSpPr>
        <p:spPr>
          <a:xfrm>
            <a:off x="372291" y="1223772"/>
            <a:ext cx="8144691" cy="9903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/>
              <a:t>Why?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Creates simple decision rules that are easy to explain and use in business.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/>
              <a:t>Parameters: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Tree depth was limited to </a:t>
            </a:r>
            <a:r>
              <a:rPr lang="en-US" sz="1200" b="1" dirty="0">
                <a:solidFill>
                  <a:schemeClr val="bg1"/>
                </a:solidFill>
              </a:rPr>
              <a:t>5</a:t>
            </a:r>
            <a:r>
              <a:rPr lang="en-US" sz="1200" dirty="0">
                <a:solidFill>
                  <a:schemeClr val="bg1"/>
                </a:solidFill>
              </a:rPr>
              <a:t> and each leaf needed at least </a:t>
            </a:r>
            <a:r>
              <a:rPr lang="en-US" sz="1200" b="1" dirty="0">
                <a:solidFill>
                  <a:schemeClr val="bg1"/>
                </a:solidFill>
              </a:rPr>
              <a:t>50 records</a:t>
            </a:r>
            <a:r>
              <a:rPr lang="en-US" sz="1200" dirty="0">
                <a:solidFill>
                  <a:schemeClr val="bg1"/>
                </a:solidFill>
              </a:rPr>
              <a:t> to avoid overfitting.</a:t>
            </a:r>
            <a:endParaRPr lang="en-US" sz="12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200" b="1" dirty="0"/>
              <a:t>Pruning:</a:t>
            </a:r>
            <a:r>
              <a:rPr lang="en-US" sz="1200" dirty="0"/>
              <a:t> </a:t>
            </a:r>
            <a:r>
              <a:rPr lang="en-US" sz="1200" dirty="0">
                <a:solidFill>
                  <a:schemeClr val="bg1"/>
                </a:solidFill>
              </a:rPr>
              <a:t>The best tree was selected using </a:t>
            </a:r>
            <a:r>
              <a:rPr lang="en-US" sz="1200" b="1" dirty="0">
                <a:solidFill>
                  <a:schemeClr val="bg1"/>
                </a:solidFill>
              </a:rPr>
              <a:t>validation AUC</a:t>
            </a:r>
            <a:r>
              <a:rPr lang="en-US" sz="1200" dirty="0">
                <a:solidFill>
                  <a:schemeClr val="bg1"/>
                </a:solidFill>
              </a:rPr>
              <a:t> so the model performs well on new data.</a:t>
            </a:r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54529585"/>
              </p:ext>
            </p:extLst>
          </p:nvPr>
        </p:nvGraphicFramePr>
        <p:xfrm>
          <a:off x="457200" y="2286000"/>
          <a:ext cx="3931920" cy="1292352"/>
        </p:xfrm>
        <a:graphic>
          <a:graphicData uri="http://schemas.openxmlformats.org/drawingml/2006/table">
            <a:tbl>
              <a:tblPr/>
              <a:tblGrid>
                <a:gridCol w="1371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F1124"/>
                          </a:solidFill>
                        </a:rPr>
                        <a:t>METRIC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F1124"/>
                          </a:solidFill>
                        </a:rPr>
                        <a:t>TRAINING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CF1124"/>
                          </a:solidFill>
                        </a:rPr>
                        <a:t>VALIDATION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90.82%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91.18%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Specificity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chemeClr val="bg1"/>
                          </a:solidFill>
                        </a:rPr>
                        <a:t>96.84%</a:t>
                      </a:r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96.90%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67.40%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66.36%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ROC AUC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</a:rPr>
                        <a:t>0.8506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</a:rPr>
                        <a:t>0.8460</a:t>
                      </a:r>
                      <a:endParaRPr lang="en-US" sz="1100" dirty="0"/>
                    </a:p>
                  </a:txBody>
                  <a:tcPr>
                    <a:lnL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749040"/>
            <a:ext cx="4114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Sensitivity = 66% :- catches TWICE as many subscribers as logistic regression! Key drivers: nr.employed, duration, poutcome</a:t>
            </a:r>
            <a:endParaRPr lang="en-US" sz="1100" dirty="0"/>
          </a:p>
        </p:txBody>
      </p:sp>
      <p:pic>
        <p:nvPicPr>
          <p:cNvPr id="7" name="Image 0" descr="/home/claude/WhatsApp_Image_2026-05-03_at_9_26_16_PM__4_.jpeg"/>
          <p:cNvPicPr>
            <a:picLocks noChangeAspect="1"/>
          </p:cNvPicPr>
          <p:nvPr/>
        </p:nvPicPr>
        <p:blipFill>
          <a:blip r:embed="rId3"/>
          <a:srcRect l="2062" t="22544" r="2381" b="16741"/>
          <a:stretch>
            <a:fillRect/>
          </a:stretch>
        </p:blipFill>
        <p:spPr>
          <a:xfrm>
            <a:off x="4519749" y="2069552"/>
            <a:ext cx="4493621" cy="231956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754880" y="448056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Validation: ROC (AUC=0.846)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TREE RULES &amp;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59436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BUSINESS ANSWER</a:t>
            </a:r>
            <a:endParaRPr lang="en-US" sz="2400" dirty="0"/>
          </a:p>
        </p:txBody>
      </p:sp>
      <p:pic>
        <p:nvPicPr>
          <p:cNvPr id="4" name="Image 0" descr="/home/claude/WhatsApp_Image_2026-05-03_at_9_26_16_PM__6_.jpeg"/>
          <p:cNvPicPr>
            <a:picLocks noChangeAspect="1"/>
          </p:cNvPicPr>
          <p:nvPr/>
        </p:nvPicPr>
        <p:blipFill>
          <a:blip r:embed="rId3"/>
          <a:srcRect l="26292" t="22751" r="28723" b="23280"/>
          <a:stretch>
            <a:fillRect/>
          </a:stretch>
        </p:blipFill>
        <p:spPr>
          <a:xfrm>
            <a:off x="411480" y="1037793"/>
            <a:ext cx="3540034" cy="243975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82880" y="3566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Pruned Tree (13 nodes)</a:t>
            </a:r>
            <a:endParaRPr lang="en-US" sz="900" dirty="0"/>
          </a:p>
        </p:txBody>
      </p:sp>
      <p:pic>
        <p:nvPicPr>
          <p:cNvPr id="6" name="Image 1" descr="/home/claude/WhatsApp_Image_2026-05-03_at_9_26_16_PM__5_.jpeg"/>
          <p:cNvPicPr>
            <a:picLocks noChangeAspect="1"/>
          </p:cNvPicPr>
          <p:nvPr/>
        </p:nvPicPr>
        <p:blipFill>
          <a:blip r:embed="rId4"/>
          <a:srcRect l="26139" t="22751" r="28876" b="23280"/>
          <a:stretch>
            <a:fillRect/>
          </a:stretch>
        </p:blipFill>
        <p:spPr>
          <a:xfrm>
            <a:off x="4892040" y="1010784"/>
            <a:ext cx="3618411" cy="2493767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4663440" y="3566160"/>
            <a:ext cx="4297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Full-Grown Tree (31 nodes)</a:t>
            </a:r>
            <a:endParaRPr lang="en-US" sz="900" dirty="0"/>
          </a:p>
        </p:txBody>
      </p:sp>
      <p:sp>
        <p:nvSpPr>
          <p:cNvPr id="8" name="Shape 4"/>
          <p:cNvSpPr/>
          <p:nvPr/>
        </p:nvSpPr>
        <p:spPr>
          <a:xfrm>
            <a:off x="411480" y="3886200"/>
            <a:ext cx="3977640" cy="105156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5"/>
          <p:cNvSpPr/>
          <p:nvPr/>
        </p:nvSpPr>
        <p:spPr>
          <a:xfrm>
            <a:off x="594360" y="393192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ACTIONABLE RULES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594360" y="416052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nr.employed ≤ 5087.5 AND duration &gt; 173.5 AND poutcome = success → likely subscriber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IF nr.employed &gt; 5087.5 AND duration &gt; 607.5 → likely subscriber</a:t>
            </a:r>
            <a:endParaRPr lang="en-US" sz="1000" dirty="0"/>
          </a:p>
        </p:txBody>
      </p:sp>
      <p:sp>
        <p:nvSpPr>
          <p:cNvPr id="11" name="Shape 7"/>
          <p:cNvSpPr/>
          <p:nvPr/>
        </p:nvSpPr>
        <p:spPr>
          <a:xfrm>
            <a:off x="4754880" y="3875255"/>
            <a:ext cx="4114800" cy="1051560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489204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HYPOTHETICAL EXAMPLE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4892040" y="4132716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Customer: 40y, 500 calls, previous success, nr.employed=5000 → Tree follows left branch → passes all conditions → Predicted: SUBSCRIBE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219456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64592"/>
            <a:ext cx="7315200" cy="53035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100" b="1">
                <a:solidFill>
                  <a:srgbClr val="FFFFFF"/>
                </a:solidFill>
                <a:latin typeface="Arial Black"/>
              </a:rPr>
              <a:t>KNN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13232"/>
            <a:ext cx="73152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600" b="1">
                <a:solidFill>
                  <a:srgbClr val="CF1124"/>
                </a:solidFill>
                <a:latin typeface="Arial Black"/>
              </a:rPr>
              <a:t>CLASSIFICATION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272659"/>
            <a:ext cx="8229600" cy="775597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r>
              <a:rPr lang="en-US" sz="1600" b="1" dirty="0">
                <a:solidFill>
                  <a:schemeClr val="bg1"/>
                </a:solidFill>
              </a:rPr>
              <a:t>Why</a:t>
            </a:r>
            <a:r>
              <a:rPr lang="en-US" sz="1600" b="1" dirty="0">
                <a:solidFill>
                  <a:srgbClr val="C00000"/>
                </a:solidFill>
              </a:rPr>
              <a:t>?</a:t>
            </a:r>
            <a:r>
              <a:rPr lang="en-US" sz="1600" dirty="0"/>
              <a:t> </a:t>
            </a:r>
          </a:p>
          <a:p>
            <a:r>
              <a:rPr lang="en-US" sz="1600" dirty="0">
                <a:solidFill>
                  <a:schemeClr val="bg1"/>
                </a:solidFill>
              </a:rPr>
              <a:t>KNN predicts subscription by comparing a customer with the most similar past customers and using their outcomes to make the prediction.</a:t>
            </a:r>
            <a:endParaRPr sz="1550" b="0" dirty="0">
              <a:solidFill>
                <a:schemeClr val="bg1"/>
              </a:solidFill>
              <a:latin typeface="Arial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57200" y="2391156"/>
            <a:ext cx="4114800" cy="34471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2000" b="1" dirty="0">
                <a:solidFill>
                  <a:srgbClr val="CF1124"/>
                </a:solidFill>
                <a:latin typeface="Arial"/>
              </a:rPr>
              <a:t>Model Setup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3977639" cy="7863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2944368"/>
            <a:ext cx="37033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3172968"/>
            <a:ext cx="370331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0">
                <a:solidFill>
                  <a:srgbClr val="E8E8E8"/>
                </a:solidFill>
                <a:latin typeface="Arial"/>
              </a:rPr>
              <a:t>K-nearest neighbor classification for yes/no subscription prediction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17720" y="2880360"/>
            <a:ext cx="3977639" cy="7863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54880" y="2944368"/>
            <a:ext cx="37033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INPUTS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172968"/>
            <a:ext cx="370331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0">
                <a:solidFill>
                  <a:srgbClr val="E8E8E8"/>
                </a:solidFill>
                <a:latin typeface="Arial"/>
              </a:rPr>
              <a:t>Same cleaned customer, campaign, economic and previous-contact variables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886200"/>
            <a:ext cx="3977639" cy="7863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94360" y="3950208"/>
            <a:ext cx="37033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PREPROCESSING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4178808"/>
            <a:ext cx="370331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0">
                <a:solidFill>
                  <a:srgbClr val="E8E8E8"/>
                </a:solidFill>
                <a:latin typeface="Arial"/>
              </a:rPr>
              <a:t>Missing values imputed and variables standardized because KNN uses distance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617720" y="3886200"/>
            <a:ext cx="3977639" cy="786384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754880" y="3950208"/>
            <a:ext cx="3703319" cy="20116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050" b="1">
                <a:solidFill>
                  <a:srgbClr val="FFFFFF"/>
                </a:solidFill>
                <a:latin typeface="Arial"/>
              </a:rPr>
              <a:t>SELECTION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754880" y="4178808"/>
            <a:ext cx="3703319" cy="365760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250" b="0">
                <a:solidFill>
                  <a:srgbClr val="E8E8E8"/>
                </a:solidFill>
                <a:latin typeface="Arial"/>
              </a:rPr>
              <a:t>K value checked through validation; very small K can memorize training data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34814"/>
            <a:ext cx="7315200" cy="667875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4100" b="1" dirty="0">
                <a:latin typeface="Arial Black"/>
              </a:rPr>
              <a:t>KNN RESULTS &amp;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539496"/>
            <a:ext cx="7315200" cy="56692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3600" b="1" dirty="0">
                <a:solidFill>
                  <a:srgbClr val="CF1124"/>
                </a:solidFill>
                <a:latin typeface="Arial Black"/>
              </a:rPr>
              <a:t>BUSINESS ANSWER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47572"/>
            <a:ext cx="8138160" cy="498598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0" dirty="0">
                <a:latin typeface="Arial"/>
              </a:rPr>
              <a:t>KNN was tested as an additional benchmark model, but the results showed overfitting instead of reliable business performance.</a:t>
            </a:r>
          </a:p>
        </p:txBody>
      </p:sp>
      <p:sp>
        <p:nvSpPr>
          <p:cNvPr id="5" name="Rectangle 4"/>
          <p:cNvSpPr/>
          <p:nvPr/>
        </p:nvSpPr>
        <p:spPr>
          <a:xfrm>
            <a:off x="411480" y="1783080"/>
            <a:ext cx="4114800" cy="22128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94359" y="1863852"/>
            <a:ext cx="3749039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CF1124"/>
                </a:solidFill>
                <a:latin typeface="Arial"/>
              </a:rPr>
              <a:t>Observed Result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85292350"/>
              </p:ext>
            </p:extLst>
          </p:nvPr>
        </p:nvGraphicFramePr>
        <p:xfrm>
          <a:off x="594360" y="2157984"/>
          <a:ext cx="3749038" cy="1234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451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45720" marR="45720" marT="27432" marB="27432">
                    <a:solidFill>
                      <a:srgbClr val="CF1124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1" dirty="0">
                          <a:solidFill>
                            <a:srgbClr val="FFFFFF"/>
                          </a:solidFill>
                          <a:latin typeface="Arial"/>
                        </a:rPr>
                        <a:t>KNN RESULT</a:t>
                      </a:r>
                    </a:p>
                  </a:txBody>
                  <a:tcPr marL="45720" marR="45720" marT="27432" marB="27432">
                    <a:solidFill>
                      <a:srgbClr val="CF112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Training ROC AUC</a:t>
                      </a:r>
                    </a:p>
                  </a:txBody>
                  <a:tcPr marL="45720" marR="45720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1.00</a:t>
                      </a:r>
                    </a:p>
                  </a:txBody>
                  <a:tcPr marL="45720" marR="45720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Interpretation</a:t>
                      </a:r>
                    </a:p>
                  </a:txBody>
                  <a:tcPr marL="45720" marR="45720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Overfitting</a:t>
                      </a:r>
                    </a:p>
                  </a:txBody>
                  <a:tcPr marL="45720" marR="45720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1150" b="0">
                          <a:solidFill>
                            <a:srgbClr val="FFFFFF"/>
                          </a:solidFill>
                          <a:latin typeface="Arial"/>
                        </a:rPr>
                        <a:t>Deployment Fit</a:t>
                      </a:r>
                    </a:p>
                  </a:txBody>
                  <a:tcPr marL="45720" marR="45720" marT="27432" marB="27432"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50" b="0" dirty="0">
                          <a:solidFill>
                            <a:srgbClr val="FFFFFF"/>
                          </a:solidFill>
                          <a:latin typeface="Arial"/>
                        </a:rPr>
                        <a:t>Not suitable</a:t>
                      </a:r>
                    </a:p>
                  </a:txBody>
                  <a:tcPr marL="45720" marR="45720" marT="27432" marB="27432"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94360" y="3429000"/>
            <a:ext cx="3749039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150" b="0" dirty="0">
                <a:solidFill>
                  <a:srgbClr val="E8E8E8"/>
                </a:solidFill>
                <a:latin typeface="Arial"/>
              </a:rPr>
              <a:t>AUC = 1.00 on training means the model is likely memorizing the training data instead of learning a stable pattern.</a:t>
            </a:r>
          </a:p>
        </p:txBody>
      </p:sp>
      <p:sp>
        <p:nvSpPr>
          <p:cNvPr id="9" name="Rectangle 8"/>
          <p:cNvSpPr/>
          <p:nvPr/>
        </p:nvSpPr>
        <p:spPr>
          <a:xfrm>
            <a:off x="4800600" y="1783080"/>
            <a:ext cx="3703320" cy="2212848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4983480" y="1938528"/>
            <a:ext cx="3337560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l"/>
            <a:r>
              <a:rPr sz="1500" b="1">
                <a:solidFill>
                  <a:srgbClr val="CF1124"/>
                </a:solidFill>
                <a:latin typeface="Arial"/>
              </a:rPr>
              <a:t>Business Answer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83480" y="2304288"/>
            <a:ext cx="3520440" cy="1428661"/>
          </a:xfrm>
          <a:prstGeom prst="rect">
            <a:avLst/>
          </a:prstGeom>
          <a:noFill/>
        </p:spPr>
        <p:txBody>
          <a:bodyPr wrap="square" lIns="54864" tIns="27432" rIns="36576" bIns="27432">
            <a:spAutoFit/>
          </a:bodyPr>
          <a:lstStyle/>
          <a:p>
            <a:pPr>
              <a:lnSpc>
                <a:spcPct val="150000"/>
              </a:lnSpc>
              <a:defRPr sz="1220">
                <a:solidFill>
                  <a:srgbClr val="FFFFFF"/>
                </a:solidFill>
                <a:latin typeface="Arial"/>
              </a:defRPr>
            </a:pPr>
            <a:r>
              <a:rPr dirty="0"/>
              <a:t>• Good for comparing similar customers</a:t>
            </a:r>
            <a:r>
              <a:rPr lang="en-US" dirty="0"/>
              <a:t>.</a:t>
            </a:r>
            <a:endParaRPr dirty="0"/>
          </a:p>
          <a:p>
            <a:pPr>
              <a:lnSpc>
                <a:spcPct val="150000"/>
              </a:lnSpc>
              <a:defRPr sz="1220">
                <a:solidFill>
                  <a:srgbClr val="FFFFFF"/>
                </a:solidFill>
                <a:latin typeface="Arial"/>
              </a:defRPr>
            </a:pPr>
            <a:r>
              <a:rPr dirty="0"/>
              <a:t>• But weak for explanation </a:t>
            </a:r>
            <a:r>
              <a:rPr lang="en-US" dirty="0"/>
              <a:t>&amp; </a:t>
            </a:r>
            <a:r>
              <a:rPr dirty="0"/>
              <a:t>management</a:t>
            </a:r>
            <a:r>
              <a:rPr lang="en-US" dirty="0"/>
              <a:t> </a:t>
            </a:r>
            <a:r>
              <a:rPr dirty="0"/>
              <a:t>trust</a:t>
            </a:r>
            <a:r>
              <a:rPr lang="en-US" dirty="0"/>
              <a:t>.</a:t>
            </a:r>
            <a:endParaRPr dirty="0"/>
          </a:p>
          <a:p>
            <a:pPr>
              <a:lnSpc>
                <a:spcPct val="150000"/>
              </a:lnSpc>
              <a:defRPr sz="1220">
                <a:solidFill>
                  <a:srgbClr val="FFFFFF"/>
                </a:solidFill>
                <a:latin typeface="Arial"/>
              </a:defRPr>
            </a:pPr>
            <a:r>
              <a:rPr dirty="0"/>
              <a:t>• Sensitive to scaling and noisy variables</a:t>
            </a:r>
            <a:r>
              <a:rPr lang="en-US" dirty="0"/>
              <a:t>.</a:t>
            </a:r>
            <a:endParaRPr dirty="0"/>
          </a:p>
          <a:p>
            <a:pPr>
              <a:lnSpc>
                <a:spcPct val="150000"/>
              </a:lnSpc>
              <a:defRPr sz="1220">
                <a:solidFill>
                  <a:srgbClr val="FFFFFF"/>
                </a:solidFill>
                <a:latin typeface="Arial"/>
              </a:defRPr>
            </a:pPr>
            <a:r>
              <a:rPr dirty="0"/>
              <a:t>• Final decision: keep as benchmark, </a:t>
            </a:r>
            <a:r>
              <a:rPr b="1" dirty="0"/>
              <a:t>do not deploy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1480" y="4160520"/>
            <a:ext cx="8092440" cy="594360"/>
          </a:xfrm>
          <a:prstGeom prst="rect">
            <a:avLst/>
          </a:prstGeom>
          <a:solidFill>
            <a:srgbClr val="CF11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594360" y="4279392"/>
            <a:ext cx="7726679" cy="256032"/>
          </a:xfrm>
          <a:prstGeom prst="rect">
            <a:avLst/>
          </a:prstGeom>
          <a:noFill/>
        </p:spPr>
        <p:txBody>
          <a:bodyPr wrap="square" lIns="27432" tIns="18288" rIns="27432" bIns="18288" anchor="t">
            <a:spAutoFit/>
          </a:bodyPr>
          <a:lstStyle/>
          <a:p>
            <a:pPr algn="ctr"/>
            <a:r>
              <a:rPr sz="1350" b="1">
                <a:solidFill>
                  <a:srgbClr val="FFFFFF"/>
                </a:solidFill>
                <a:latin typeface="Arial"/>
              </a:rPr>
              <a:t>TAKEAWAY: KNN helped us compare another modeling approach, but Classification Tree remains the best business-ready model.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274320" y="91440"/>
            <a:ext cx="4572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MODEL</a:t>
            </a:r>
            <a:endParaRPr lang="en-US" sz="6000" dirty="0"/>
          </a:p>
        </p:txBody>
      </p:sp>
      <p:sp>
        <p:nvSpPr>
          <p:cNvPr id="3" name="Text 1"/>
          <p:cNvSpPr/>
          <p:nvPr/>
        </p:nvSpPr>
        <p:spPr>
          <a:xfrm>
            <a:off x="274320" y="77724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COMPARISON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457200" y="1575707"/>
            <a:ext cx="2743200" cy="82296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94360" y="1593669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KNN: AUC = 1.00 (training) → OVERFITTING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 suitable for deployment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44761632"/>
              </p:ext>
            </p:extLst>
          </p:nvPr>
        </p:nvGraphicFramePr>
        <p:xfrm>
          <a:off x="457200" y="2571750"/>
          <a:ext cx="8229600" cy="1463040"/>
        </p:xfrm>
        <a:graphic>
          <a:graphicData uri="http://schemas.openxmlformats.org/drawingml/2006/table">
            <a:tbl>
              <a:tblPr/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603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VAL AUC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SENSITIVITY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INTERPRETABLE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BUSINESS FIT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A1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Logistic Reg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0.757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F1124"/>
                          </a:solidFill>
                        </a:rPr>
                        <a:t>22% (low)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1B9E5A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Moderate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Neural Net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0.810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D97706"/>
                          </a:solidFill>
                        </a:rPr>
                        <a:t>Moderate*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F112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9E5A"/>
                          </a:solidFill>
                        </a:rPr>
                        <a:t>Class. Tree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9E5A"/>
                          </a:solidFill>
                        </a:rPr>
                        <a:t>0.846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9E5A"/>
                          </a:solidFill>
                        </a:rPr>
                        <a:t>66% (high)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9E5A"/>
                          </a:solidFill>
                        </a:rPr>
                        <a:t>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1B9E5A"/>
                          </a:solidFill>
                        </a:rPr>
                        <a:t>Very High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26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KNN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F1124"/>
                          </a:solidFill>
                        </a:rPr>
                        <a:t>1.00 (train)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B050"/>
                          </a:solidFill>
                        </a:rPr>
                        <a:t>Very High</a:t>
                      </a:r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999999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CF1124"/>
                          </a:solidFill>
                        </a:rPr>
                        <a:t>Low</a:t>
                      </a:r>
                      <a:endParaRPr lang="en-US" sz="1000" dirty="0"/>
                    </a:p>
                  </a:txBody>
                  <a:tcPr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57200" y="4072346"/>
            <a:ext cx="2743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i="1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*After cutoff tuning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580606" y="4160520"/>
            <a:ext cx="7289074" cy="822960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645920" y="4206240"/>
            <a:ext cx="7086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BEST MODEL: </a:t>
            </a:r>
            <a:r>
              <a:rPr lang="en-US" sz="1400" dirty="0">
                <a:solidFill>
                  <a:schemeClr val="bg1"/>
                </a:solidFill>
              </a:rPr>
              <a:t>Classification Tree is the best model because it has the highest validation AUC of 0.846 and better sensitivity </a:t>
            </a:r>
            <a:r>
              <a:rPr lang="en-US" sz="1400">
                <a:solidFill>
                  <a:schemeClr val="bg1"/>
                </a:solidFill>
              </a:rPr>
              <a:t>of 66</a:t>
            </a:r>
            <a:r>
              <a:rPr lang="en-US" sz="1400" dirty="0">
                <a:solidFill>
                  <a:schemeClr val="bg1"/>
                </a:solidFill>
              </a:rPr>
              <a:t>% while still giving clear business rules</a:t>
            </a:r>
            <a:endParaRPr lang="en-US" sz="11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F11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RECOMMEND</a:t>
            </a:r>
            <a:endParaRPr lang="en-US" sz="58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500" b="1" dirty="0">
                <a:solidFill>
                  <a:srgbClr val="1A1A1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ATIONS</a:t>
            </a:r>
            <a:endParaRPr lang="en-US" sz="5500" dirty="0"/>
          </a:p>
        </p:txBody>
      </p:sp>
      <p:sp>
        <p:nvSpPr>
          <p:cNvPr id="4" name="Shape 2"/>
          <p:cNvSpPr/>
          <p:nvPr/>
        </p:nvSpPr>
        <p:spPr>
          <a:xfrm>
            <a:off x="457200" y="1645920"/>
            <a:ext cx="3931920" cy="3200400"/>
          </a:xfrm>
          <a:prstGeom prst="rect">
            <a:avLst/>
          </a:prstGeom>
          <a:solidFill>
            <a:srgbClr val="1A1A1A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NOW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2044337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classification tree as primary model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cutoff from 0.5 to catch more subscribers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on top-lift deciles first</a:t>
            </a:r>
          </a:p>
          <a:p>
            <a:pPr>
              <a:lnSpc>
                <a:spcPct val="150000"/>
              </a:lnSpc>
              <a:spcAft>
                <a:spcPts val="300"/>
              </a:spcAft>
              <a:buSzPct val="100000"/>
            </a:pPr>
            <a:endParaRPr lang="en-US" sz="11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customers with:</a:t>
            </a:r>
            <a:endParaRPr lang="en-US" sz="12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99999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</a:t>
            </a: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Longer call durations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Positive previous outcomes</a:t>
            </a:r>
            <a:endParaRPr lang="en-US" sz="1200" dirty="0">
              <a:solidFill>
                <a:schemeClr val="bg1"/>
              </a:solidFill>
            </a:endParaRPr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chemeClr val="bg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Favorable economic conditions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4754880" y="1645920"/>
            <a:ext cx="3931920" cy="3200400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73736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kern="0" spc="3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 NEXT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85508" y="1965960"/>
            <a:ext cx="35661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model drift over time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Retrain periodically with new data</a:t>
            </a:r>
            <a:endParaRPr lang="en-US" sz="1200" dirty="0"/>
          </a:p>
          <a:p>
            <a:pPr marL="171450" indent="-171450">
              <a:lnSpc>
                <a:spcPct val="150000"/>
              </a:lnSpc>
              <a:spcAft>
                <a:spcPts val="3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 behavioral variables (clicks, emails)</a:t>
            </a:r>
          </a:p>
          <a:p>
            <a:pPr>
              <a:lnSpc>
                <a:spcPct val="150000"/>
              </a:lnSpc>
              <a:spcAft>
                <a:spcPts val="300"/>
              </a:spcAft>
              <a:buSzPct val="100000"/>
            </a:pPr>
            <a:endParaRPr lang="en-US" sz="12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ensemble methods:</a:t>
            </a:r>
            <a:endParaRPr lang="en-US" sz="12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Random Forest</a:t>
            </a:r>
            <a:endParaRPr lang="en-US" sz="12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Gradient Boosting / XGBoost</a:t>
            </a:r>
            <a:endParaRPr lang="en-US" sz="1200" dirty="0"/>
          </a:p>
          <a:p>
            <a:pPr marL="0" indent="0">
              <a:lnSpc>
                <a:spcPct val="150000"/>
              </a:lnSpc>
              <a:spcAft>
                <a:spcPts val="300"/>
              </a:spcAft>
              <a:buNone/>
            </a:pPr>
            <a:r>
              <a:rPr lang="en-US" sz="1100" dirty="0">
                <a:solidFill>
                  <a:srgbClr val="3333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• Cost-sensitive classification</a:t>
            </a:r>
            <a:endParaRPr lang="en-US" sz="12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A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37160"/>
            <a:ext cx="5897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PROJECT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199" y="777240"/>
            <a:ext cx="6844937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SUMMARY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931920" cy="2828109"/>
          </a:xfrm>
          <a:prstGeom prst="rect">
            <a:avLst/>
          </a:prstGeom>
          <a:solidFill>
            <a:srgbClr val="CF112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4008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LESSONS LEARNED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40080" y="2011680"/>
            <a:ext cx="3566160" cy="221415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Comparing models is essential, no single model wins on every metric</a:t>
            </a:r>
            <a:endParaRPr lang="en-US" sz="1100" dirty="0"/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AUC is more reliable than accuracy for imbalanced data</a:t>
            </a:r>
            <a:endParaRPr lang="en-US" sz="1100" dirty="0"/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Cut-off selection has huge business impact, 0.5 is rarely optimal</a:t>
            </a:r>
            <a:endParaRPr lang="en-US" sz="1100" dirty="0"/>
          </a:p>
          <a:p>
            <a:pPr marL="171450" indent="-171450">
              <a:lnSpc>
                <a:spcPct val="150000"/>
              </a:lnSpc>
              <a:spcAft>
                <a:spcPts val="4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Interpretability matters for deployment trust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754880" y="1567543"/>
            <a:ext cx="3931920" cy="2860766"/>
          </a:xfrm>
          <a:prstGeom prst="rect">
            <a:avLst/>
          </a:prstGeom>
          <a:solidFill>
            <a:srgbClr val="33333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937760" y="1691640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CF112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LIMITATIONS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937760" y="201168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 imbalance only ~11% subscribers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Duration is known only after the call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feature diversity, no digital data</a:t>
            </a:r>
            <a:endParaRPr lang="en-US" sz="1100" dirty="0"/>
          </a:p>
          <a:p>
            <a:pPr marL="342900" indent="-342900">
              <a:lnSpc>
                <a:spcPct val="150000"/>
              </a:lnSpc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Economic changes may reduce model shelf life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EBEBE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371600" y="914400"/>
            <a:ext cx="6400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400" b="1" dirty="0"/>
          </a:p>
        </p:txBody>
      </p:sp>
      <p:sp>
        <p:nvSpPr>
          <p:cNvPr id="3" name="Text 1"/>
          <p:cNvSpPr/>
          <p:nvPr/>
        </p:nvSpPr>
        <p:spPr>
          <a:xfrm>
            <a:off x="457200" y="1219744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THANK</a:t>
            </a:r>
            <a:endParaRPr lang="en-US" sz="10000" dirty="0"/>
          </a:p>
        </p:txBody>
      </p:sp>
      <p:sp>
        <p:nvSpPr>
          <p:cNvPr id="4" name="Text 2"/>
          <p:cNvSpPr/>
          <p:nvPr/>
        </p:nvSpPr>
        <p:spPr>
          <a:xfrm>
            <a:off x="457200" y="2442754"/>
            <a:ext cx="82296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0" b="1" dirty="0">
                <a:solidFill>
                  <a:srgbClr val="CF1124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YOU</a:t>
            </a:r>
            <a:endParaRPr lang="en-US" sz="10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</TotalTime>
  <Words>1562</Words>
  <Application>Microsoft Office PowerPoint</Application>
  <PresentationFormat>On-screen Show (16:9)</PresentationFormat>
  <Paragraphs>283</Paragraphs>
  <Slides>17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Arial Black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Bank Marketing Classification</dc:title>
  <dc:subject>PptxGenJS Presentation</dc:subject>
  <dc:creator>PptxGenJS</dc:creator>
  <cp:lastModifiedBy>Prakash Sai</cp:lastModifiedBy>
  <cp:revision>11</cp:revision>
  <dcterms:created xsi:type="dcterms:W3CDTF">2026-05-05T02:24:29Z</dcterms:created>
  <dcterms:modified xsi:type="dcterms:W3CDTF">2026-05-05T14:15:44Z</dcterms:modified>
</cp:coreProperties>
</file>